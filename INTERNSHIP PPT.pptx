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Calibri"/>
              </a:rPr>
              <a:t>Cases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49F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VLAN</c:v>
                </c:pt>
                <c:pt idx="1">
                  <c:v>Default Gateway</c:v>
                </c:pt>
                <c:pt idx="2">
                  <c:v>DHCP</c:v>
                </c:pt>
                <c:pt idx="3">
                  <c:v>DNS</c:v>
                </c:pt>
                <c:pt idx="4">
                  <c:v>Routing</c:v>
                </c:pt>
                <c:pt idx="5">
                  <c:v>ACL</c:v>
                </c:pt>
                <c:pt idx="6">
                  <c:v>NAT</c:v>
                </c:pt>
                <c:pt idx="7">
                  <c:v>Wireless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BA-406C-856A-30B6CDB4A2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4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27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12700">
            <a:solidFill>
              <a:srgbClr val="1638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109728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0" y="73152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164592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0" y="237744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38560" y="292608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0" y="374904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0" y="457200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420624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0" y="539496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5760720"/>
            <a:ext cx="82296" cy="82296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5068" y="772668"/>
            <a:ext cx="1188720" cy="36576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3788" y="772668"/>
            <a:ext cx="1188720" cy="91440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3708" y="1687068"/>
            <a:ext cx="1828800" cy="73152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3708" y="2418588"/>
            <a:ext cx="2286000" cy="54864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0908" y="2967228"/>
            <a:ext cx="1828800" cy="82296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0908" y="3790188"/>
            <a:ext cx="1097280" cy="82296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3628" y="4247388"/>
            <a:ext cx="2194560" cy="36576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3628" y="4247388"/>
            <a:ext cx="3291840" cy="118872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76588" y="5436108"/>
            <a:ext cx="2468880" cy="36576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82296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1031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822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+ COMPUTER NETWORKING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2331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NetSage AI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594360" y="3429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Network Troubleshooting System with Human Review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94360" y="4343400"/>
            <a:ext cx="2926080" cy="0"/>
          </a:xfrm>
          <a:prstGeom prst="line">
            <a:avLst/>
          </a:prstGeom>
          <a:noFill/>
          <a:ln w="12700">
            <a:solidFill>
              <a:srgbClr val="2756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5720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7FA3C4"/>
                </a:solidFill>
              </a:rPr>
              <a:t>Presented By
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Piyush Sarkar
</a:t>
            </a:r>
            <a:endParaRPr lang="en-US" sz="11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BFE3F5"/>
                </a:solidFill>
              </a:rPr>
              <a:t>Roll No. 2410030784
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FE3F5"/>
                </a:solidFill>
              </a:rPr>
              <a:t>IILM University, Greater Noida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35" name="image1.png">
            <a:extLst>
              <a:ext uri="{FF2B5EF4-FFF2-40B4-BE49-F238E27FC236}">
                <a16:creationId xmlns:a16="http://schemas.microsoft.com/office/drawing/2014/main" id="{B329BB6B-DA70-32F9-EB2A-6094FD1C3F0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38695" y="1234024"/>
            <a:ext cx="1323975" cy="1285875"/>
          </a:xfrm>
          <a:prstGeom prst="rect">
            <a:avLst/>
          </a:prstGeom>
          <a:ln/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BA272A4-97B9-D8FD-B6E9-B1047BAEE5BA}"/>
              </a:ext>
            </a:extLst>
          </p:cNvPr>
          <p:cNvSpPr txBox="1"/>
          <p:nvPr/>
        </p:nvSpPr>
        <p:spPr>
          <a:xfrm>
            <a:off x="2104402" y="1579901"/>
            <a:ext cx="5104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IILM UNIVERSITY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6309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network troubleshooting system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Cisco-style troubleshooting scenarios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deterministic rules with an AI-oriented diagnosis architecture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structured troubleshooting recommendations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mandatory human review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responsible AI approach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223760" y="1417320"/>
            <a:ext cx="4434840" cy="1325880"/>
          </a:xfrm>
          <a:prstGeom prst="roundRect">
            <a:avLst>
              <a:gd name="adj" fmla="val 6207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6096" y="1792224"/>
            <a:ext cx="566928" cy="566928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6" name="Text 4"/>
          <p:cNvSpPr/>
          <p:nvPr/>
        </p:nvSpPr>
        <p:spPr>
          <a:xfrm>
            <a:off x="7626096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66760" y="19842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 checker on Cisco show output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2990088"/>
            <a:ext cx="4434840" cy="1325880"/>
          </a:xfrm>
          <a:prstGeom prst="roundRect">
            <a:avLst>
              <a:gd name="adj" fmla="val 6207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26096" y="3364992"/>
            <a:ext cx="566928" cy="566928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1" name="Text 9"/>
          <p:cNvSpPr/>
          <p:nvPr/>
        </p:nvSpPr>
        <p:spPr>
          <a:xfrm>
            <a:off x="7626096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AI-Oriented Diagnosis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35570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evidence-based recommendation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23760" y="4562856"/>
            <a:ext cx="4434840" cy="1325880"/>
          </a:xfrm>
          <a:prstGeom prst="roundRect">
            <a:avLst>
              <a:gd name="adj" fmla="val 6207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6096" y="4937760"/>
            <a:ext cx="566928" cy="566928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7626096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47457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512978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accepts, edits, or rejects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troubleshooting can be complex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symptom can have multiple possible causes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engineers may struggle to identify root causes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can be time-consuming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assumptions may result in incorrect fixes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43434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0B1F33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"PC receives an IP address but cannot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a server."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0" y="1325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SYMPTOM → MULTIPLE POSSIBLE CAUSES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1874520"/>
            <a:ext cx="914400" cy="9144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0" y="1691640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691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2331720"/>
            <a:ext cx="1668780" cy="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95560" y="1691640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5560" y="16916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2331720"/>
            <a:ext cx="3634740" cy="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368296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368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2331720"/>
            <a:ext cx="166878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95560" y="2368296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10195560" y="2368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2331720"/>
            <a:ext cx="363474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044952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0449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2331720"/>
            <a:ext cx="1668780" cy="996696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3044952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10195560" y="304495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2331720"/>
            <a:ext cx="3634740" cy="996696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721608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7216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98080" y="2331720"/>
            <a:ext cx="1668780" cy="1673352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95560" y="3721608"/>
            <a:ext cx="1874520" cy="566928"/>
          </a:xfrm>
          <a:prstGeom prst="roundRect">
            <a:avLst>
              <a:gd name="adj" fmla="val 14516"/>
            </a:avLst>
          </a:prstGeom>
          <a:solidFill>
            <a:srgbClr val="EAF2F8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372160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2331720"/>
            <a:ext cx="3634740" cy="1673352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and Need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 intelligent troubleshooting assistant useful?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troubleshooting assistance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diagnostic process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support for junior engineers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guesswork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troubleshooting workflow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before final decision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9320" y="1234440"/>
            <a:ext cx="3063240" cy="5074920"/>
          </a:xfrm>
          <a:prstGeom prst="roundRect">
            <a:avLst>
              <a:gd name="adj" fmla="val 2687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9006840" y="1234440"/>
            <a:ext cx="3063240" cy="5074920"/>
          </a:xfrm>
          <a:prstGeom prst="roundRect">
            <a:avLst>
              <a:gd name="adj" fmla="val 2687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371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0" y="1371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8288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5400000">
            <a:off x="7374636" y="2414016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265176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6517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Documentation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374636" y="3236976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347472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Commands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374636" y="4059936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429768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42976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Fault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rot="5400000">
            <a:off x="7374636" y="4882896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512064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5120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182880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12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18288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5400000">
            <a:off x="10392156" y="2414016"/>
            <a:ext cx="292608" cy="160934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0" y="265176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12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6517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rot="5400000">
            <a:off x="10392156" y="3236976"/>
            <a:ext cx="292608" cy="160934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0" y="347472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12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34747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Analysis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rot="5400000">
            <a:off x="10392156" y="4059936"/>
            <a:ext cx="292608" cy="160934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0" y="429768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12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42976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 rot="5400000">
            <a:off x="10392156" y="4882896"/>
            <a:ext cx="292608" cy="160934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0" y="5120640"/>
            <a:ext cx="2788920" cy="566928"/>
          </a:xfrm>
          <a:prstGeom prst="roundRect">
            <a:avLst>
              <a:gd name="adj" fmla="val 14516"/>
            </a:avLst>
          </a:prstGeom>
          <a:solidFill>
            <a:srgbClr val="12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51206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network symptoms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15361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37160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Cisco-style show-command outputs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340864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505456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34086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common network faults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340864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2505456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234086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likely root causes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310128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3101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problems to OSI layers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310128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47472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33101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evidence-backed recommendations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4279392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4443984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427939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troubleshooting commands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279392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0" y="4443984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78040" y="427939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remediation steps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5248656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17320" y="524865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human oversight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55080" y="5248656"/>
            <a:ext cx="5394960" cy="786384"/>
          </a:xfrm>
          <a:prstGeom prst="roundRect">
            <a:avLst>
              <a:gd name="adj" fmla="val 10465"/>
            </a:avLst>
          </a:prstGeom>
          <a:solidFill>
            <a:srgbClr val="EAF2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3680" y="5413248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5413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178040" y="524865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foundation for future LLM integration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57501" y="2439162"/>
            <a:ext cx="274320" cy="150876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6" name="Shape 4"/>
          <p:cNvSpPr/>
          <p:nvPr/>
        </p:nvSpPr>
        <p:spPr>
          <a:xfrm>
            <a:off x="2431237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7" name="Text 5"/>
          <p:cNvSpPr/>
          <p:nvPr/>
        </p:nvSpPr>
        <p:spPr>
          <a:xfrm>
            <a:off x="2476957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40098" y="2439162"/>
            <a:ext cx="274320" cy="150876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9" name="Shape 7"/>
          <p:cNvSpPr/>
          <p:nvPr/>
        </p:nvSpPr>
        <p:spPr>
          <a:xfrm>
            <a:off x="4313834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4359554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22696" y="2439162"/>
            <a:ext cx="274320" cy="150876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6432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242152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5293" y="2439162"/>
            <a:ext cx="274320" cy="150876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79029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8124749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87890" y="2439162"/>
            <a:ext cx="274320" cy="150876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8" name="Shape 16"/>
          <p:cNvSpPr/>
          <p:nvPr/>
        </p:nvSpPr>
        <p:spPr>
          <a:xfrm>
            <a:off x="9961626" y="1828800"/>
            <a:ext cx="1681429" cy="1371600"/>
          </a:xfrm>
          <a:prstGeom prst="roundRect">
            <a:avLst>
              <a:gd name="adj" fmla="val 6000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07346" y="1828800"/>
            <a:ext cx="158998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network rules provide structured findings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logic converts findings into a structured recommendation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validates the recommendation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decisions can be recorded for future evaluation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60520" y="1097280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123A5C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Network Engineer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 rot="5400000">
            <a:off x="5998464" y="1563624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1645920"/>
            <a:ext cx="3840480" cy="585216"/>
          </a:xfrm>
          <a:prstGeom prst="roundRect">
            <a:avLst>
              <a:gd name="adj" fmla="val 14063"/>
            </a:avLst>
          </a:prstGeom>
          <a:solidFill>
            <a:srgbClr val="0F2E4B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664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Case Input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+ Topology + Show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5998464" y="2240280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2322576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123A5C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3408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 Checker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5998464" y="2788920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2871216"/>
            <a:ext cx="3840480" cy="585216"/>
          </a:xfrm>
          <a:prstGeom prst="roundRect">
            <a:avLst>
              <a:gd name="adj" fmla="val 14063"/>
            </a:avLst>
          </a:prstGeom>
          <a:solidFill>
            <a:srgbClr val="0F2E4B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889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Severity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5998464" y="3465576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3547872"/>
            <a:ext cx="3840480" cy="585216"/>
          </a:xfrm>
          <a:prstGeom prst="roundRect">
            <a:avLst>
              <a:gd name="adj" fmla="val 14063"/>
            </a:avLst>
          </a:prstGeom>
          <a:solidFill>
            <a:srgbClr val="123A5C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AI-Oriented Mode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98464" y="4142232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18" name="Shape 16"/>
          <p:cNvSpPr/>
          <p:nvPr/>
        </p:nvSpPr>
        <p:spPr>
          <a:xfrm>
            <a:off x="4160520" y="4224528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0F2E4B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4242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998464" y="4690872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0520" y="4773168"/>
            <a:ext cx="3840480" cy="457200"/>
          </a:xfrm>
          <a:prstGeom prst="roundRect">
            <a:avLst>
              <a:gd name="adj" fmla="val 18000"/>
            </a:avLst>
          </a:prstGeom>
          <a:solidFill>
            <a:srgbClr val="123A5C"/>
          </a:solidFill>
          <a:ln w="12700">
            <a:solidFill>
              <a:srgbClr val="2A5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7914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1668" y="5303520"/>
            <a:ext cx="1143000" cy="347472"/>
          </a:xfrm>
          <a:prstGeom prst="roundRect">
            <a:avLst>
              <a:gd name="adj" fmla="val 23684"/>
            </a:avLst>
          </a:prstGeom>
          <a:solidFill>
            <a:srgbClr val="2E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4201668" y="53035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09260" y="5303520"/>
            <a:ext cx="1143000" cy="347472"/>
          </a:xfrm>
          <a:prstGeom prst="roundRect">
            <a:avLst>
              <a:gd name="adj" fmla="val 23684"/>
            </a:avLst>
          </a:prstGeom>
          <a:solidFill>
            <a:srgbClr val="D98C1E"/>
          </a:solidFill>
          <a:ln/>
        </p:spPr>
      </p:sp>
      <p:sp>
        <p:nvSpPr>
          <p:cNvPr id="26" name="Text 24"/>
          <p:cNvSpPr/>
          <p:nvPr/>
        </p:nvSpPr>
        <p:spPr>
          <a:xfrm>
            <a:off x="5509260" y="53035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6852" y="5303520"/>
            <a:ext cx="1143000" cy="347472"/>
          </a:xfrm>
          <a:prstGeom prst="roundRect">
            <a:avLst>
              <a:gd name="adj" fmla="val 23684"/>
            </a:avLst>
          </a:prstGeom>
          <a:solidFill>
            <a:srgbClr val="C0453B"/>
          </a:solidFill>
          <a:ln/>
        </p:spPr>
      </p:sp>
      <p:sp>
        <p:nvSpPr>
          <p:cNvPr id="28" name="Text 26"/>
          <p:cNvSpPr/>
          <p:nvPr/>
        </p:nvSpPr>
        <p:spPr>
          <a:xfrm>
            <a:off x="6816852" y="53035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5998464" y="5669280"/>
            <a:ext cx="164592" cy="90526"/>
          </a:xfrm>
          <a:prstGeom prst="chevron">
            <a:avLst/>
          </a:prstGeom>
          <a:solidFill>
            <a:srgbClr val="3E6E93"/>
          </a:solidFill>
          <a:ln/>
        </p:spPr>
      </p:sp>
      <p:sp>
        <p:nvSpPr>
          <p:cNvPr id="30" name="Shape 28"/>
          <p:cNvSpPr/>
          <p:nvPr/>
        </p:nvSpPr>
        <p:spPr>
          <a:xfrm>
            <a:off x="4160520" y="5797296"/>
            <a:ext cx="3840480" cy="347472"/>
          </a:xfrm>
          <a:prstGeom prst="roundRect">
            <a:avLst>
              <a:gd name="adj" fmla="val 23684"/>
            </a:avLst>
          </a:prstGeom>
          <a:solidFill>
            <a:srgbClr val="00BCEB"/>
          </a:solidFill>
          <a:ln/>
        </p:spPr>
      </p:sp>
      <p:sp>
        <p:nvSpPr>
          <p:cNvPr id="31" name="Text 29"/>
          <p:cNvSpPr/>
          <p:nvPr/>
        </p:nvSpPr>
        <p:spPr>
          <a:xfrm>
            <a:off x="4160520" y="5797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 +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1641348" y="1453896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5" name="Text 3"/>
          <p:cNvSpPr/>
          <p:nvPr/>
        </p:nvSpPr>
        <p:spPr>
          <a:xfrm>
            <a:off x="1641348" y="1453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3317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and troubleshooting logic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4402836" y="1453896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0" name="Text 8"/>
          <p:cNvSpPr/>
          <p:nvPr/>
        </p:nvSpPr>
        <p:spPr>
          <a:xfrm>
            <a:off x="4402836" y="1453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728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65576" y="23317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interface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17336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164324" y="1453896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5" name="Text 13"/>
          <p:cNvSpPr/>
          <p:nvPr/>
        </p:nvSpPr>
        <p:spPr>
          <a:xfrm>
            <a:off x="7164324" y="1453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08776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27064" y="23317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processing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78824" y="13258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925812" y="1453896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0" name="Text 18"/>
          <p:cNvSpPr/>
          <p:nvPr/>
        </p:nvSpPr>
        <p:spPr>
          <a:xfrm>
            <a:off x="9925812" y="1453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70264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88552" y="233172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review-log storage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289864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1348" y="3026664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5" name="Text 23"/>
          <p:cNvSpPr/>
          <p:nvPr/>
        </p:nvSpPr>
        <p:spPr>
          <a:xfrm>
            <a:off x="1641348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Streamlit Charts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" y="39044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55848" y="289864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402836" y="3026664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0" name="Text 28"/>
          <p:cNvSpPr/>
          <p:nvPr/>
        </p:nvSpPr>
        <p:spPr>
          <a:xfrm>
            <a:off x="4402836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47288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Architecture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65576" y="39044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future LLM integration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17336" y="289864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164324" y="3026664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5" name="Text 33"/>
          <p:cNvSpPr/>
          <p:nvPr/>
        </p:nvSpPr>
        <p:spPr>
          <a:xfrm>
            <a:off x="7164324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08776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27064" y="39044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domain knowledge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78824" y="289864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EAF2F8"/>
          </a:solidFill>
          <a:ln/>
        </p:spPr>
      </p:sp>
      <p:sp>
        <p:nvSpPr>
          <p:cNvPr id="39" name="Shape 37"/>
          <p:cNvSpPr/>
          <p:nvPr/>
        </p:nvSpPr>
        <p:spPr>
          <a:xfrm>
            <a:off x="9925812" y="3026664"/>
            <a:ext cx="512064" cy="512064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40" name="Text 38"/>
          <p:cNvSpPr/>
          <p:nvPr/>
        </p:nvSpPr>
        <p:spPr>
          <a:xfrm>
            <a:off x="9925812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970264" y="3611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988552" y="3904488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452628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0B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45262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 operates in mock/rule-assisted diagnosis mode due to API quota limitations.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331720" cy="2148840"/>
          </a:xfrm>
          <a:prstGeom prst="roundRect">
            <a:avLst>
              <a:gd name="adj" fmla="val 3830"/>
            </a:avLst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Cisco-style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troubleshooting scenarios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0" y="1371600"/>
          <a:ext cx="5577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9052560" y="1371600"/>
            <a:ext cx="2514600" cy="2286000"/>
          </a:xfrm>
          <a:prstGeom prst="roundRect">
            <a:avLst>
              <a:gd name="adj" fmla="val 3600"/>
            </a:avLst>
          </a:prstGeom>
          <a:solidFill>
            <a:srgbClr val="EAF2F8"/>
          </a:solidFill>
          <a:ln/>
        </p:spPr>
      </p:sp>
      <p:sp>
        <p:nvSpPr>
          <p:cNvPr id="9" name="Text 6"/>
          <p:cNvSpPr/>
          <p:nvPr/>
        </p:nvSpPr>
        <p:spPr>
          <a:xfrm>
            <a:off x="923544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FIELDS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0" y="17830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Note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Fault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50" dirty="0"/>
          </a:p>
          <a:p>
            <a:pPr marL="228600" indent="-228600">
              <a:lnSpc>
                <a:spcPct val="108000"/>
              </a:lnSpc>
              <a:spcAft>
                <a:spcPts val="350"/>
              </a:spcAft>
              <a:buSzPct val="100000"/>
              <a:buChar char="▪"/>
            </a:pPr>
            <a:r>
              <a:rPr lang="en-US" sz="9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3977640"/>
            <a:ext cx="10972800" cy="621792"/>
          </a:xfrm>
          <a:prstGeom prst="roundRect">
            <a:avLst>
              <a:gd name="adj" fmla="val 13235"/>
            </a:avLst>
          </a:prstGeom>
          <a:solidFill>
            <a:srgbClr val="0B1F3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9776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"Structured Cisco-style lab troubleshooting scenarios."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Rule-Based Troubleshooting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EAF2F8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Show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33728" y="1837030"/>
            <a:ext cx="219456" cy="120701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6" name="Shape 4"/>
          <p:cNvSpPr/>
          <p:nvPr/>
        </p:nvSpPr>
        <p:spPr>
          <a:xfrm>
            <a:off x="179832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182575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/ Rule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7688" y="1837030"/>
            <a:ext cx="219456" cy="120701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9" name="Shape 7"/>
          <p:cNvSpPr/>
          <p:nvPr/>
        </p:nvSpPr>
        <p:spPr>
          <a:xfrm>
            <a:off x="300228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302971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41648" y="1837030"/>
            <a:ext cx="219456" cy="120701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EA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423367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45608" y="1837030"/>
            <a:ext cx="219456" cy="120701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1020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EA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3763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9568" y="1837030"/>
            <a:ext cx="219456" cy="120701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160" y="1371600"/>
            <a:ext cx="1021080" cy="1051560"/>
          </a:xfrm>
          <a:prstGeom prst="roundRect">
            <a:avLst>
              <a:gd name="adj" fmla="val 8060"/>
            </a:avLst>
          </a:prstGeom>
          <a:solidFill>
            <a:srgbClr val="049FD9"/>
          </a:solidFill>
          <a:ln/>
        </p:spPr>
      </p:sp>
      <p:sp>
        <p:nvSpPr>
          <p:cNvPr id="19" name="Text 17"/>
          <p:cNvSpPr/>
          <p:nvPr/>
        </p:nvSpPr>
        <p:spPr>
          <a:xfrm>
            <a:off x="6641592" y="1371600"/>
            <a:ext cx="966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Recommen-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DETECTED PROBLEMS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063240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administratively down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063240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593592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not allowed on trunk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3593592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mismatch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4123944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239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route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4123944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32" name="Text 30"/>
          <p:cNvSpPr/>
          <p:nvPr/>
        </p:nvSpPr>
        <p:spPr>
          <a:xfrm>
            <a:off x="4343400" y="41239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issue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4654296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6542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issue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4654296"/>
            <a:ext cx="3429000" cy="457200"/>
          </a:xfrm>
          <a:prstGeom prst="roundRect">
            <a:avLst>
              <a:gd name="adj" fmla="val 18000"/>
            </a:avLst>
          </a:prstGeom>
          <a:solidFill>
            <a:srgbClr val="EAF2F8"/>
          </a:solidFill>
          <a:ln/>
        </p:spPr>
      </p:sp>
      <p:sp>
        <p:nvSpPr>
          <p:cNvPr id="36" name="Text 34"/>
          <p:cNvSpPr/>
          <p:nvPr/>
        </p:nvSpPr>
        <p:spPr>
          <a:xfrm>
            <a:off x="4343400" y="46542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NAT-related issue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1371600"/>
            <a:ext cx="3429000" cy="3657600"/>
          </a:xfrm>
          <a:prstGeom prst="roundRect">
            <a:avLst>
              <a:gd name="adj" fmla="val 2400"/>
            </a:avLst>
          </a:prstGeom>
          <a:solidFill>
            <a:srgbClr val="0B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1508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 CONTAINS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21040" y="18288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321040" y="3429000"/>
            <a:ext cx="3063240" cy="0"/>
          </a:xfrm>
          <a:prstGeom prst="line">
            <a:avLst/>
          </a:prstGeom>
          <a:noFill/>
          <a:ln w="12700">
            <a:solidFill>
              <a:srgbClr val="2756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36118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"Deterministic rules provide predictable and evidence-based findings before diagnosis."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Diagnosis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627632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Symptom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Show Output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11880" y="2266798"/>
            <a:ext cx="402336" cy="221285"/>
          </a:xfrm>
          <a:prstGeom prst="chevron">
            <a:avLst/>
          </a:prstGeom>
          <a:solidFill>
            <a:srgbClr val="049FD9"/>
          </a:solidFill>
          <a:ln/>
        </p:spPr>
      </p:sp>
      <p:sp>
        <p:nvSpPr>
          <p:cNvPr id="6" name="Shape 4"/>
          <p:cNvSpPr/>
          <p:nvPr/>
        </p:nvSpPr>
        <p:spPr>
          <a:xfrm>
            <a:off x="3977640" y="1325880"/>
            <a:ext cx="3657600" cy="2286000"/>
          </a:xfrm>
          <a:prstGeom prst="roundRect">
            <a:avLst>
              <a:gd name="adj" fmla="val 3600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51960" y="15087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"root_cause": "..."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"osi_layer": "..."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"confidence": 0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"evidence": []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"next_command": "..."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"fix_steps": []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2266798"/>
            <a:ext cx="402336" cy="221285"/>
          </a:xfrm>
          <a:prstGeom prst="chevron">
            <a:avLst/>
          </a:prstGeom>
          <a:solidFill>
            <a:srgbClr val="049FD9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83880" y="1627632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Command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Steps</a:t>
            </a:r>
            <a:endParaRPr lang="en-US" sz="1100" dirty="0"/>
          </a:p>
          <a:p>
            <a:pPr marL="228600" indent="-228600">
              <a:lnSpc>
                <a:spcPct val="108000"/>
              </a:lnSpc>
              <a:spcAft>
                <a:spcPts val="650"/>
              </a:spcAft>
              <a:buSzPct val="100000"/>
              <a:buChar char="▪"/>
            </a:pPr>
            <a:r>
              <a:rPr lang="en-US" sz="11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977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98C1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Rule-Assisted Diagnosis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420624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062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617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Integration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current system is not represented as a successfully connected live LLM.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04088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88336" y="1992020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7" name="Shape 5"/>
          <p:cNvSpPr/>
          <p:nvPr/>
        </p:nvSpPr>
        <p:spPr>
          <a:xfrm>
            <a:off x="2807208" y="137160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8" name="Text 6"/>
          <p:cNvSpPr/>
          <p:nvPr/>
        </p:nvSpPr>
        <p:spPr>
          <a:xfrm>
            <a:off x="2916936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16936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Symptom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01184" y="1992020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1" name="Shape 9"/>
          <p:cNvSpPr/>
          <p:nvPr/>
        </p:nvSpPr>
        <p:spPr>
          <a:xfrm>
            <a:off x="5020056" y="137160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5129784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9784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Topology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14032" y="1992020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5" name="Shape 13"/>
          <p:cNvSpPr/>
          <p:nvPr/>
        </p:nvSpPr>
        <p:spPr>
          <a:xfrm>
            <a:off x="7232904" y="137160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42632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Show 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1992020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19" name="Shape 17"/>
          <p:cNvSpPr/>
          <p:nvPr/>
        </p:nvSpPr>
        <p:spPr>
          <a:xfrm>
            <a:off x="9445752" y="137160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9555480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55480" y="18745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Rule Checker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2944368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9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" y="3447288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Diagnosis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88336" y="3564788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26" name="Shape 24"/>
          <p:cNvSpPr/>
          <p:nvPr/>
        </p:nvSpPr>
        <p:spPr>
          <a:xfrm>
            <a:off x="2807208" y="2944368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2916936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9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916936" y="3447288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01184" y="3564788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0056" y="2944368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31" name="Text 29"/>
          <p:cNvSpPr/>
          <p:nvPr/>
        </p:nvSpPr>
        <p:spPr>
          <a:xfrm>
            <a:off x="5129784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9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129784" y="3447288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Command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14032" y="3564788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34" name="Shape 32"/>
          <p:cNvSpPr/>
          <p:nvPr/>
        </p:nvSpPr>
        <p:spPr>
          <a:xfrm>
            <a:off x="7232904" y="2944368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35" name="Text 33"/>
          <p:cNvSpPr/>
          <p:nvPr/>
        </p:nvSpPr>
        <p:spPr>
          <a:xfrm>
            <a:off x="7342632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9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42632" y="3447288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326880" y="3564788"/>
            <a:ext cx="237744" cy="130759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38" name="Shape 36"/>
          <p:cNvSpPr/>
          <p:nvPr/>
        </p:nvSpPr>
        <p:spPr>
          <a:xfrm>
            <a:off x="9445752" y="2944368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39" name="Text 37"/>
          <p:cNvSpPr/>
          <p:nvPr/>
        </p:nvSpPr>
        <p:spPr>
          <a:xfrm>
            <a:off x="955548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9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555480" y="3447288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Decision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— illustrative screens (project screenshots not supplied)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566160" cy="365760"/>
          </a:xfrm>
          <a:prstGeom prst="roundRect">
            <a:avLst>
              <a:gd name="adj" fmla="val 22500"/>
            </a:avLst>
          </a:prstGeom>
          <a:solidFill>
            <a:srgbClr val="132C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100584" cy="100584"/>
          </a:xfrm>
          <a:prstGeom prst="ellipse">
            <a:avLst/>
          </a:prstGeom>
          <a:solidFill>
            <a:srgbClr val="C0453B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1691640"/>
            <a:ext cx="100584" cy="100584"/>
          </a:xfrm>
          <a:prstGeom prst="ellipse">
            <a:avLst/>
          </a:prstGeom>
          <a:solidFill>
            <a:srgbClr val="D98C1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1691640"/>
            <a:ext cx="100584" cy="1005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explanation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61688" y="155448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554480"/>
            <a:ext cx="3566160" cy="365760"/>
          </a:xfrm>
          <a:prstGeom prst="roundRect">
            <a:avLst>
              <a:gd name="adj" fmla="val 22500"/>
            </a:avLst>
          </a:prstGeom>
          <a:solidFill>
            <a:srgbClr val="132C47"/>
          </a:solidFill>
          <a:ln/>
        </p:spPr>
      </p:sp>
      <p:sp>
        <p:nvSpPr>
          <p:cNvPr id="13" name="Shape 11"/>
          <p:cNvSpPr/>
          <p:nvPr/>
        </p:nvSpPr>
        <p:spPr>
          <a:xfrm>
            <a:off x="4498848" y="1691640"/>
            <a:ext cx="100584" cy="100584"/>
          </a:xfrm>
          <a:prstGeom prst="ellipse">
            <a:avLst/>
          </a:prstGeom>
          <a:solidFill>
            <a:srgbClr val="C045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0016" y="1691640"/>
            <a:ext cx="100584" cy="100584"/>
          </a:xfrm>
          <a:prstGeom prst="ellipse">
            <a:avLst/>
          </a:prstGeom>
          <a:solidFill>
            <a:srgbClr val="D98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01184" y="1691640"/>
            <a:ext cx="100584" cy="1005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Network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98848" y="24688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selection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&amp; topology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 + findings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9016" y="1554480"/>
            <a:ext cx="3566160" cy="3703320"/>
          </a:xfrm>
          <a:prstGeom prst="roundRect">
            <a:avLst>
              <a:gd name="adj" fmla="val 2308"/>
            </a:avLst>
          </a:prstGeom>
          <a:solidFill>
            <a:srgbClr val="EAF2F8"/>
          </a:solidFill>
          <a:ln/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9016" y="1554480"/>
            <a:ext cx="3566160" cy="365760"/>
          </a:xfrm>
          <a:prstGeom prst="roundRect">
            <a:avLst>
              <a:gd name="adj" fmla="val 22500"/>
            </a:avLst>
          </a:prstGeom>
          <a:solidFill>
            <a:srgbClr val="132C47"/>
          </a:solidFill>
          <a:ln/>
        </p:spPr>
      </p:sp>
      <p:sp>
        <p:nvSpPr>
          <p:cNvPr id="20" name="Shape 18"/>
          <p:cNvSpPr/>
          <p:nvPr/>
        </p:nvSpPr>
        <p:spPr>
          <a:xfrm>
            <a:off x="8266176" y="1691640"/>
            <a:ext cx="100584" cy="100584"/>
          </a:xfrm>
          <a:prstGeom prst="ellipse">
            <a:avLst/>
          </a:prstGeom>
          <a:solidFill>
            <a:srgbClr val="C0453B"/>
          </a:solidFill>
          <a:ln/>
        </p:spPr>
      </p:sp>
      <p:sp>
        <p:nvSpPr>
          <p:cNvPr id="21" name="Shape 19"/>
          <p:cNvSpPr/>
          <p:nvPr/>
        </p:nvSpPr>
        <p:spPr>
          <a:xfrm>
            <a:off x="8467344" y="1691640"/>
            <a:ext cx="100584" cy="100584"/>
          </a:xfrm>
          <a:prstGeom prst="ellipse">
            <a:avLst/>
          </a:prstGeom>
          <a:solidFill>
            <a:srgbClr val="D98C1E"/>
          </a:solidFill>
          <a:ln/>
        </p:spPr>
      </p:sp>
      <p:sp>
        <p:nvSpPr>
          <p:cNvPr id="22" name="Shape 20"/>
          <p:cNvSpPr/>
          <p:nvPr/>
        </p:nvSpPr>
        <p:spPr>
          <a:xfrm>
            <a:off x="8668512" y="1691640"/>
            <a:ext cx="100584" cy="1005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8266176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66176" y="246888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evidence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command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 steps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15688" y="1371600"/>
            <a:ext cx="2560320" cy="502920"/>
          </a:xfrm>
          <a:prstGeom prst="roundRect">
            <a:avLst>
              <a:gd name="adj" fmla="val 16364"/>
            </a:avLst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4815688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Rule Diagnosis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5400000">
            <a:off x="5949544" y="1920240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6" name="Shape 4"/>
          <p:cNvSpPr/>
          <p:nvPr/>
        </p:nvSpPr>
        <p:spPr>
          <a:xfrm>
            <a:off x="4815688" y="2029968"/>
            <a:ext cx="2560320" cy="502920"/>
          </a:xfrm>
          <a:prstGeom prst="roundRect">
            <a:avLst>
              <a:gd name="adj" fmla="val 16364"/>
            </a:avLst>
          </a:prstGeom>
          <a:solidFill>
            <a:srgbClr val="049FD9"/>
          </a:solidFill>
          <a:ln/>
        </p:spPr>
      </p:sp>
      <p:sp>
        <p:nvSpPr>
          <p:cNvPr id="7" name="Text 5"/>
          <p:cNvSpPr/>
          <p:nvPr/>
        </p:nvSpPr>
        <p:spPr>
          <a:xfrm>
            <a:off x="4815688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651760"/>
            <a:ext cx="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2651760"/>
            <a:ext cx="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2651760"/>
            <a:ext cx="256032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2488" y="301752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EAF2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255368" y="31821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2255368" y="3182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55368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agrees with the diagnosis.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24248" y="301752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EAF2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907128" y="31821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98C1E"/>
          </a:solidFill>
          <a:ln/>
        </p:spPr>
      </p:sp>
      <p:sp>
        <p:nvSpPr>
          <p:cNvPr id="17" name="Text 15"/>
          <p:cNvSpPr/>
          <p:nvPr/>
        </p:nvSpPr>
        <p:spPr>
          <a:xfrm>
            <a:off x="4907128" y="3182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7128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modifies the diagnosis.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76008" y="301752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558888" y="31821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C0453B"/>
          </a:solidFill>
          <a:ln/>
        </p:spPr>
      </p:sp>
      <p:sp>
        <p:nvSpPr>
          <p:cNvPr id="21" name="Text 19"/>
          <p:cNvSpPr/>
          <p:nvPr/>
        </p:nvSpPr>
        <p:spPr>
          <a:xfrm>
            <a:off x="7558888" y="3182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58888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determines the diagnosis is incorrect.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2648" y="4023360"/>
            <a:ext cx="274320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04408" y="4023360"/>
            <a:ext cx="9144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6168" y="4023360"/>
            <a:ext cx="0" cy="320040"/>
          </a:xfrm>
          <a:prstGeom prst="line">
            <a:avLst/>
          </a:prstGeom>
          <a:noFill/>
          <a:ln w="12700">
            <a:solidFill>
              <a:srgbClr val="C7D8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5949544" y="4370832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24248" y="4480560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12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4724248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rot="5400000">
            <a:off x="5949544" y="5029200"/>
            <a:ext cx="292608" cy="160934"/>
          </a:xfrm>
          <a:prstGeom prst="chevron">
            <a:avLst/>
          </a:prstGeom>
          <a:solidFill>
            <a:srgbClr val="9FB6CC"/>
          </a:solidFill>
          <a:ln/>
        </p:spPr>
      </p:sp>
      <p:sp>
        <p:nvSpPr>
          <p:cNvPr id="30" name="Shape 28"/>
          <p:cNvSpPr/>
          <p:nvPr/>
        </p:nvSpPr>
        <p:spPr>
          <a:xfrm>
            <a:off x="4724248" y="5138928"/>
            <a:ext cx="2743200" cy="502920"/>
          </a:xfrm>
          <a:prstGeom prst="roundRect">
            <a:avLst>
              <a:gd name="adj" fmla="val 16364"/>
            </a:avLst>
          </a:prstGeom>
          <a:solidFill>
            <a:srgbClr val="00BCEB"/>
          </a:solidFill>
          <a:ln/>
        </p:spPr>
      </p:sp>
      <p:sp>
        <p:nvSpPr>
          <p:cNvPr id="31" name="Text 29"/>
          <p:cNvSpPr/>
          <p:nvPr/>
        </p:nvSpPr>
        <p:spPr>
          <a:xfrm>
            <a:off x="4724248" y="5138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recommends; the human decides."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AF2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troubleshooting cases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networking concept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severity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information where available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27632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745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rate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AI-human agreement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 correctness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network faults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534924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C7D8E6"/>
            </a:solidFill>
            <a:prstDash val="solid"/>
          </a:ln>
          <a:effectLst>
            <a:outerShdw blurRad="76200" dist="25400" dir="5400000" algn="bl" rotWithShape="0">
              <a:srgbClr val="8DA9C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screenshots not included — described here from the project specification.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Troubleshooting Scenario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55280" y="50292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D98C1E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0" y="5029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SCENARIO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cannot communicate with another device.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984248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842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98424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administratively down.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551176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511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55117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status problem detected.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181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ROOT CAUSE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311810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administratively down.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685032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850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68503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Physical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251960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519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COMMAND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425196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interface status and configuration.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4818888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188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81888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interface (e.g. "no shutdown").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5385816"/>
            <a:ext cx="1097280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8581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538581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089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present verbatim in the uploaded project, this scenario is presented only as a demonstration — not experimental evidence.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4" name="Shape 2"/>
          <p:cNvSpPr/>
          <p:nvPr/>
        </p:nvSpPr>
        <p:spPr>
          <a:xfrm>
            <a:off x="1426464" y="150876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5" name="Text 3"/>
          <p:cNvSpPr/>
          <p:nvPr/>
        </p:nvSpPr>
        <p:spPr>
          <a:xfrm>
            <a:off x="142646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Testing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4088" y="23317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dataset structure and required fields.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52928" y="13716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9" name="Shape 7"/>
          <p:cNvSpPr/>
          <p:nvPr/>
        </p:nvSpPr>
        <p:spPr>
          <a:xfrm>
            <a:off x="3685032" y="150876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44368" y="20299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Checker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62656" y="23317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common network fault conditions.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11496" y="13716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50876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02936" y="20299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Testing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21224" y="23317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structured diagnosis output.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70064" y="13716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202168" y="150876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61504" y="20299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Testing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79792" y="23317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Accept / Edit / Reject workflow.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28632" y="13716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60736" y="150876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5" name="Text 23"/>
          <p:cNvSpPr/>
          <p:nvPr/>
        </p:nvSpPr>
        <p:spPr>
          <a:xfrm>
            <a:off x="1046073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20072" y="202996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38360" y="233172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Streamlit application behavior.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33375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91840" y="33375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33375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686800" y="333756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0" y="33375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94360" y="3840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91840" y="3840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89320" y="3840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686800" y="3840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" y="466344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"Functional testing was used to validate application workflow and module behavior."
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100% accuracy is made. Numerical results are included only where supported by the project materials.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3703320" cy="384048"/>
          </a:xfrm>
          <a:prstGeom prst="roundRect">
            <a:avLst>
              <a:gd name="adj" fmla="val 21429"/>
            </a:avLst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480560" y="1371600"/>
            <a:ext cx="3429000" cy="384048"/>
          </a:xfrm>
          <a:prstGeom prst="roundRect">
            <a:avLst>
              <a:gd name="adj" fmla="val 21429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3716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92440" y="1371600"/>
            <a:ext cx="3520440" cy="384048"/>
          </a:xfrm>
          <a:prstGeom prst="roundRect">
            <a:avLst>
              <a:gd name="adj" fmla="val 21429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8092440" y="1371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370332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828800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quota limitation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42900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828800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Mock/rule-assisted mode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828800"/>
            <a:ext cx="352044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1828800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preserved for future LLM integration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487168"/>
            <a:ext cx="370332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2487168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structured troubleshooting cases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2487168"/>
            <a:ext cx="342900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2487168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36-case dataset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2487168"/>
            <a:ext cx="35204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487168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145536"/>
            <a:ext cx="370332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3145536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diagnosis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145536"/>
            <a:ext cx="342900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3145536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 + structured outputs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3145536"/>
            <a:ext cx="3520440" cy="585216"/>
          </a:xfrm>
          <a:prstGeom prst="roundRect">
            <a:avLst>
              <a:gd name="adj" fmla="val 14063"/>
            </a:avLst>
          </a:prstGeom>
          <a:solidFill>
            <a:srgbClr val="EA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8202168" y="3145536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803904"/>
            <a:ext cx="370332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3803904"/>
            <a:ext cx="34838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3803904"/>
            <a:ext cx="342900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90288" y="3803904"/>
            <a:ext cx="3209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Edit / Reject workflow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803904"/>
            <a:ext cx="35204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02168" y="3803904"/>
            <a:ext cx="3300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496519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Structured/simulated troubleshooting scenarios · Simplified Cisco-style outputs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deterministic rule coverage · CSV storage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network-device integration · No large-scale AI accuracy evaluation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and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EAF2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blind automation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logging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correction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50"/>
              </a:spcAft>
              <a:buSzPct val="100000"/>
              <a:buChar char="▪"/>
            </a:pPr>
            <a:r>
              <a:rPr lang="en-US" sz="1250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remains with the reviewer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3794760"/>
          </a:xfrm>
          <a:prstGeom prst="roundRect">
            <a:avLst>
              <a:gd name="adj" fmla="val 2169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API integration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Cisco documentation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show-command parsing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network-device integration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monitoring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analysis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fault detection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050" dirty="0"/>
          </a:p>
          <a:p>
            <a:pPr marL="228600" indent="-228600">
              <a:lnSpc>
                <a:spcPct val="108000"/>
              </a:lnSpc>
              <a:spcAft>
                <a:spcPts val="450"/>
              </a:spcAft>
              <a:buSzPct val="100000"/>
              <a:buChar char="▪"/>
            </a:pPr>
            <a:r>
              <a:rPr lang="en-US" sz="10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AI-human analytics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5486400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049FD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5486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97096" y="5736031"/>
            <a:ext cx="256032" cy="140818"/>
          </a:xfrm>
          <a:prstGeom prst="chevron">
            <a:avLst/>
          </a:prstGeom>
          <a:solidFill>
            <a:srgbClr val="5B76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5486400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049FD9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5486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Assistant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5736031"/>
            <a:ext cx="256032" cy="140818"/>
          </a:xfrm>
          <a:prstGeom prst="chevron">
            <a:avLst/>
          </a:prstGeom>
          <a:solidFill>
            <a:srgbClr val="5B769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5486400"/>
            <a:ext cx="3566160" cy="640080"/>
          </a:xfrm>
          <a:prstGeom prst="roundRect">
            <a:avLst>
              <a:gd name="adj" fmla="val 12857"/>
            </a:avLst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5486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Network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Platform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Python-based network troubleshooting prototype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36 Cisco-style troubleshooting cases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deterministic rule checking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AI-oriented diagnosis workflow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mandatory human review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Streamlit-based interface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responsible AI principles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D7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foundation for future real LLM integration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60920" y="1371600"/>
            <a:ext cx="4251960" cy="2377440"/>
          </a:xfrm>
          <a:prstGeom prst="roundRect">
            <a:avLst>
              <a:gd name="adj" fmla="val 3462"/>
            </a:avLst>
          </a:prstGeom>
          <a:solidFill>
            <a:srgbClr val="123A5C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55448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"NetSage AI demonstrates how AI-assisted systems can support network troubleshooting while keeping humans responsible for the final decision."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5029200"/>
            <a:ext cx="10972800" cy="0"/>
          </a:xfrm>
          <a:prstGeom prst="line">
            <a:avLst/>
          </a:prstGeom>
          <a:noFill/>
          <a:ln w="12700">
            <a:solidFill>
              <a:srgbClr val="1D4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5257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Piyush Sarkar   </a:t>
            </a:r>
            <a:r>
              <a:rPr lang="en-US" sz="1300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Roll No. 2410030784   |   IILM University, Greater Noida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1230</Words>
  <Application>Microsoft Office PowerPoint</Application>
  <PresentationFormat>Widescreen</PresentationFormat>
  <Paragraphs>438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Piyush Sarkar</cp:lastModifiedBy>
  <cp:revision>2</cp:revision>
  <dcterms:created xsi:type="dcterms:W3CDTF">2026-08-30T09:27:51Z</dcterms:created>
  <dcterms:modified xsi:type="dcterms:W3CDTF">2026-08-30T09:30:18Z</dcterms:modified>
</cp:coreProperties>
</file>